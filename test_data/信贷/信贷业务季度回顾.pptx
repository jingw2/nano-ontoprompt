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信贷业务季度回顾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2026年第一季度 · 风控合规中心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A3D8"/>
                </a:solidFill>
              </a:rPr>
              <a:t>用先进科技改变金融服务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业务规模概览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91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650.34亿元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44444"/>
                </a:solidFill>
              </a:rPr>
              <a:t>本季度贷款撮合及发起规模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691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1143.87亿元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20440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44444"/>
                </a:solidFill>
              </a:rPr>
              <a:t>季末在贷余额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691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167家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44444"/>
                </a:solidFill>
              </a:rPr>
              <a:t>累计合作金融机构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1371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720" y="1691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3950万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89720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44444"/>
                </a:solidFill>
              </a:rPr>
              <a:t>累计成功提款借款人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两大业务板块：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信贷驱动服务（净收入34.32亿元）— 自有牌照放款+担保，公司承担部分信用风险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平台服务（净收入6.61亿元）— 获客/风控/撮合技术服务，向机构收取服务费，轻资本运营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借款人信用分层体系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2377440"/>
        </p:xfrm>
        <a:graphic>
          <a:graphicData uri="http://schemas.openxmlformats.org/drawingml/2006/table">
            <a:tbl>
              <a:tblPr/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分层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信用评分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授信额度上限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年化利率区间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适用条件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A层（优质）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≥700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30万元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7.2%-15%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历史无逾期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B层（良好）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600-699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15万元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15%-19.8%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近12个月逾期≤1次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C层（一般）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500-599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5万元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19.8%-23.9%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近12个月逾期2-3次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D层（观察）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&lt;500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0（暂停授信）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不适用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近6个月有M1+逾期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947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分层升降级规则：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信用评分低于500分，自动降至D层并暂停提现权限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连续3期还款正常且当前非A层，触发升级评估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单笔逾期天数超过90天（M3+），直接降至D层并移交催收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授信审批流程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595628" y="14630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595628" y="1463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24028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77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&lt; 5万元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系统自动审批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（风控模型直接出额）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</a:rPr>
              <a:t>实时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36392" y="2926080"/>
            <a:ext cx="256032" cy="228600"/>
          </a:xfrm>
          <a:prstGeom prst="rightArrow">
            <a:avLst/>
          </a:prstGeom>
          <a:solidFill>
            <a:srgbClr val="AAB8D9"/>
          </a:solidFill>
          <a:ln/>
        </p:spPr>
      </p:sp>
      <p:sp>
        <p:nvSpPr>
          <p:cNvPr id="11" name="Shape 9"/>
          <p:cNvSpPr/>
          <p:nvPr/>
        </p:nvSpPr>
        <p:spPr>
          <a:xfrm>
            <a:off x="4430268" y="14630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30268" y="1463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29000" y="224028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F2F5F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377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5-15万元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系统初审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+ 人工复核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66160" y="3657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</a:rPr>
              <a:t>2小时内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71032" y="2926080"/>
            <a:ext cx="256032" cy="228600"/>
          </a:xfrm>
          <a:prstGeom prst="rightArrow">
            <a:avLst/>
          </a:prstGeom>
          <a:solidFill>
            <a:srgbClr val="AAB8D9"/>
          </a:solidFill>
          <a:ln/>
        </p:spPr>
      </p:sp>
      <p:sp>
        <p:nvSpPr>
          <p:cNvPr id="18" name="Shape 16"/>
          <p:cNvSpPr/>
          <p:nvPr/>
        </p:nvSpPr>
        <p:spPr>
          <a:xfrm>
            <a:off x="7264908" y="14630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264908" y="1463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63640" y="224028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F2F5F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377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15-30万元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风控专员审核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+ 资金方联合审批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3657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</a:rPr>
              <a:t>1个工作日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05672" y="2926080"/>
            <a:ext cx="256032" cy="228600"/>
          </a:xfrm>
          <a:prstGeom prst="rightArrow">
            <a:avLst/>
          </a:prstGeom>
          <a:solidFill>
            <a:srgbClr val="AAB8D9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99548" y="14630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9548" y="1463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098280" y="224028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F2F5FB"/>
          </a:solidFill>
          <a:ln/>
        </p:spPr>
      </p:sp>
      <p:sp>
        <p:nvSpPr>
          <p:cNvPr id="28" name="Text 26"/>
          <p:cNvSpPr/>
          <p:nvPr/>
        </p:nvSpPr>
        <p:spPr>
          <a:xfrm>
            <a:off x="9235440" y="2377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&gt; 30万元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35440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风控总监审批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+ 资金方额外尽调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235440" y="3657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</a:rPr>
              <a:t>3个工作日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4160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特殊规则：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</a:rPr>
              <a:t>审批超时自动升级至上一级风控人员；白名单机构员工审批时限压缩50%；多头借贷指标（近3个月申请机构数）&gt;5家一律转人工复核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逾期分级与催收表现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589520" cy="2377440"/>
        </p:xfrm>
        <a:graphic>
          <a:graphicData uri="http://schemas.openxmlformats.org/drawingml/2006/table">
            <a:tbl>
              <a:tblPr/>
              <a:tblGrid>
                <a:gridCol w="1897380"/>
                <a:gridCol w="1897380"/>
                <a:gridCol w="1897380"/>
                <a:gridCol w="18973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逾期阶段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逾期天数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催收方式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本季度回收率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1-30天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短信+APP提醒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71.2%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31-60天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电话催收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38.6%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61-90天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委外催收+征信预警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21.4%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M3+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90天以上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委外催收+法务介入+征信上报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15.8%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2344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16193B"/>
          </a:solidFill>
          <a:ln/>
        </p:spPr>
      </p:sp>
      <p:sp>
        <p:nvSpPr>
          <p:cNvPr id="6" name="Text 3"/>
          <p:cNvSpPr/>
          <p:nvPr/>
        </p:nvSpPr>
        <p:spPr>
          <a:xfrm>
            <a:off x="8595360" y="1325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84B"/>
                </a:solidFill>
              </a:rPr>
              <a:t>2.8%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59536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M1+ 逾期率（较上季度+0.3pt）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12480" y="242316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16193B"/>
          </a:solidFill>
          <a:ln/>
        </p:spPr>
      </p:sp>
      <p:sp>
        <p:nvSpPr>
          <p:cNvPr id="9" name="Text 6"/>
          <p:cNvSpPr/>
          <p:nvPr/>
        </p:nvSpPr>
        <p:spPr>
          <a:xfrm>
            <a:off x="8595360" y="2514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</a:rPr>
              <a:t>3.2%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59536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风险准备金覆盖率（合同下限3%）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3794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</a:rPr>
              <a:t>本季度因单笔逾期超过90天触发强制降级并移交催收案件1.4万笔；因借款人主动结清而解除催收标记案件0.62万笔。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下季度工作重点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91640" y="1645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优化D层观察名单自动化甄别规则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2057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降低误判率，减少优质客户被误伤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91640" y="2697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失联修复流程接入AI外呼系统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3108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目标将平均耗时从6.8天压缩至5天以内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91640" y="3749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完成催收行为合规话术库更新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响应助贷新规过渡期要求，15个工作日内交付合规部审核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信贷业务季度回顾</dc:title>
  <dc:subject>PptxGenJS Presentation</dc:subject>
  <dc:creator>风控合规中心</dc:creator>
  <cp:lastModifiedBy>风控合规中心</cp:lastModifiedBy>
  <cp:revision>1</cp:revision>
  <dcterms:created xsi:type="dcterms:W3CDTF">2026-07-21T15:23:38Z</dcterms:created>
  <dcterms:modified xsi:type="dcterms:W3CDTF">2026-07-21T15:23:38Z</dcterms:modified>
</cp:coreProperties>
</file>